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1C20423-A287-A25F-7721-B772E83A2991}" v="75" dt="2026-07-16T07:29:48.58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918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831411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10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57250"/>
            <a:ext cx="12161520" cy="0"/>
          </a:xfrm>
          <a:prstGeom prst="line">
            <a:avLst/>
          </a:prstGeom>
          <a:noFill/>
          <a:ln w="3810">
            <a:solidFill>
              <a:srgbClr val="0D1E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714500"/>
            <a:ext cx="12161520" cy="0"/>
          </a:xfrm>
          <a:prstGeom prst="line">
            <a:avLst/>
          </a:prstGeom>
          <a:noFill/>
          <a:ln w="3810">
            <a:solidFill>
              <a:srgbClr val="0D1E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2571750"/>
            <a:ext cx="12161520" cy="0"/>
          </a:xfrm>
          <a:prstGeom prst="line">
            <a:avLst/>
          </a:prstGeom>
          <a:noFill/>
          <a:ln w="3810">
            <a:solidFill>
              <a:srgbClr val="0D1E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3429000"/>
            <a:ext cx="12161520" cy="0"/>
          </a:xfrm>
          <a:prstGeom prst="line">
            <a:avLst/>
          </a:prstGeom>
          <a:noFill/>
          <a:ln w="3810">
            <a:solidFill>
              <a:srgbClr val="0D1E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0" y="4286250"/>
            <a:ext cx="12161520" cy="0"/>
          </a:xfrm>
          <a:prstGeom prst="line">
            <a:avLst/>
          </a:prstGeom>
          <a:noFill/>
          <a:ln w="3810">
            <a:solidFill>
              <a:srgbClr val="0D1E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0" y="5143500"/>
            <a:ext cx="12161520" cy="0"/>
          </a:xfrm>
          <a:prstGeom prst="line">
            <a:avLst/>
          </a:prstGeom>
          <a:noFill/>
          <a:ln w="3810">
            <a:solidFill>
              <a:srgbClr val="0D1E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0" y="6000750"/>
            <a:ext cx="12161520" cy="0"/>
          </a:xfrm>
          <a:prstGeom prst="line">
            <a:avLst/>
          </a:prstGeom>
          <a:noFill/>
          <a:ln w="3810">
            <a:solidFill>
              <a:srgbClr val="0D1E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60095" y="0"/>
            <a:ext cx="0" cy="6858000"/>
          </a:xfrm>
          <a:prstGeom prst="line">
            <a:avLst/>
          </a:prstGeom>
          <a:noFill/>
          <a:ln w="3810">
            <a:solidFill>
              <a:srgbClr val="0D1E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520190" y="0"/>
            <a:ext cx="0" cy="6858000"/>
          </a:xfrm>
          <a:prstGeom prst="line">
            <a:avLst/>
          </a:prstGeom>
          <a:noFill/>
          <a:ln w="3810">
            <a:solidFill>
              <a:srgbClr val="0D1E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280285" y="0"/>
            <a:ext cx="0" cy="6858000"/>
          </a:xfrm>
          <a:prstGeom prst="line">
            <a:avLst/>
          </a:prstGeom>
          <a:noFill/>
          <a:ln w="3810">
            <a:solidFill>
              <a:srgbClr val="0D1E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040380" y="0"/>
            <a:ext cx="0" cy="6858000"/>
          </a:xfrm>
          <a:prstGeom prst="line">
            <a:avLst/>
          </a:prstGeom>
          <a:noFill/>
          <a:ln w="3810">
            <a:solidFill>
              <a:srgbClr val="0D1E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800475" y="0"/>
            <a:ext cx="0" cy="6858000"/>
          </a:xfrm>
          <a:prstGeom prst="line">
            <a:avLst/>
          </a:prstGeom>
          <a:noFill/>
          <a:ln w="3810">
            <a:solidFill>
              <a:srgbClr val="0D1E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560570" y="0"/>
            <a:ext cx="0" cy="6858000"/>
          </a:xfrm>
          <a:prstGeom prst="line">
            <a:avLst/>
          </a:prstGeom>
          <a:noFill/>
          <a:ln w="3810">
            <a:solidFill>
              <a:srgbClr val="0D1E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320665" y="0"/>
            <a:ext cx="0" cy="6858000"/>
          </a:xfrm>
          <a:prstGeom prst="line">
            <a:avLst/>
          </a:prstGeom>
          <a:noFill/>
          <a:ln w="3810">
            <a:solidFill>
              <a:srgbClr val="0D1E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080760" y="0"/>
            <a:ext cx="0" cy="6858000"/>
          </a:xfrm>
          <a:prstGeom prst="line">
            <a:avLst/>
          </a:prstGeom>
          <a:noFill/>
          <a:ln w="3810">
            <a:solidFill>
              <a:srgbClr val="0D1E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840855" y="0"/>
            <a:ext cx="0" cy="6858000"/>
          </a:xfrm>
          <a:prstGeom prst="line">
            <a:avLst/>
          </a:prstGeom>
          <a:noFill/>
          <a:ln w="3810">
            <a:solidFill>
              <a:srgbClr val="0D1E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600950" y="0"/>
            <a:ext cx="0" cy="6858000"/>
          </a:xfrm>
          <a:prstGeom prst="line">
            <a:avLst/>
          </a:prstGeom>
          <a:noFill/>
          <a:ln w="3810">
            <a:solidFill>
              <a:srgbClr val="0D1E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8361045" y="0"/>
            <a:ext cx="0" cy="6858000"/>
          </a:xfrm>
          <a:prstGeom prst="line">
            <a:avLst/>
          </a:prstGeom>
          <a:noFill/>
          <a:ln w="3810">
            <a:solidFill>
              <a:srgbClr val="0D1E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9121140" y="0"/>
            <a:ext cx="0" cy="6858000"/>
          </a:xfrm>
          <a:prstGeom prst="line">
            <a:avLst/>
          </a:prstGeom>
          <a:noFill/>
          <a:ln w="3810">
            <a:solidFill>
              <a:srgbClr val="0D1E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9881235" y="0"/>
            <a:ext cx="0" cy="6858000"/>
          </a:xfrm>
          <a:prstGeom prst="line">
            <a:avLst/>
          </a:prstGeom>
          <a:noFill/>
          <a:ln w="3810">
            <a:solidFill>
              <a:srgbClr val="0D1E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0641330" y="0"/>
            <a:ext cx="0" cy="6858000"/>
          </a:xfrm>
          <a:prstGeom prst="line">
            <a:avLst/>
          </a:prstGeom>
          <a:noFill/>
          <a:ln w="3810">
            <a:solidFill>
              <a:srgbClr val="0D1E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1401425" y="0"/>
            <a:ext cx="0" cy="6858000"/>
          </a:xfrm>
          <a:prstGeom prst="line">
            <a:avLst/>
          </a:prstGeom>
          <a:noFill/>
          <a:ln w="3810">
            <a:solidFill>
              <a:srgbClr val="0D1E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0" y="0"/>
            <a:ext cx="12161520" cy="32004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0" y="32004"/>
            <a:ext cx="12161520" cy="1005840"/>
          </a:xfrm>
          <a:prstGeom prst="rect">
            <a:avLst/>
          </a:prstGeom>
          <a:solidFill>
            <a:srgbClr val="0A1525"/>
          </a:solidFill>
          <a:ln w="6350">
            <a:solidFill>
              <a:srgbClr val="1322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201168" y="201168"/>
            <a:ext cx="2011680" cy="292608"/>
          </a:xfrm>
          <a:prstGeom prst="rect">
            <a:avLst/>
          </a:prstGeom>
          <a:solidFill>
            <a:srgbClr val="06101F"/>
          </a:solidFill>
          <a:ln w="7620">
            <a:solidFill>
              <a:srgbClr val="4A63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201168" y="20116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kern="0" spc="200" dirty="0">
                <a:solidFill>
                  <a:srgbClr val="4A6380"/>
                </a:solidFill>
              </a:rPr>
              <a:t>AI UPSKILL · MAY 2026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201168" y="530352"/>
            <a:ext cx="8686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Garden Buddy Chatbot</a:t>
            </a:r>
            <a:endParaRPr lang="en-US" sz="2200">
              <a:latin typeface="Calibri"/>
              <a:ea typeface="Calibri"/>
              <a:cs typeface="Calibri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9692640" y="274320"/>
            <a:ext cx="2286000" cy="475488"/>
          </a:xfrm>
          <a:prstGeom prst="rect">
            <a:avLst/>
          </a:prstGeom>
          <a:solidFill>
            <a:srgbClr val="06101F"/>
          </a:solidFill>
          <a:ln w="10160">
            <a:solidFill>
              <a:srgbClr val="1322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9692640" y="274320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150" dirty="0">
                <a:solidFill>
                  <a:srgbClr val="4A6380"/>
                </a:solidFill>
              </a:rPr>
              <a:t>3-WEEK INITIATIVE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164592" y="1143000"/>
            <a:ext cx="3154680" cy="1645920"/>
          </a:xfrm>
          <a:prstGeom prst="rect">
            <a:avLst/>
          </a:prstGeom>
          <a:solidFill>
            <a:srgbClr val="0C1B30"/>
          </a:solidFill>
          <a:ln w="8890">
            <a:solidFill>
              <a:srgbClr val="1322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01752" y="1271016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kern="0" spc="250" dirty="0">
                <a:solidFill>
                  <a:srgbClr val="4A6380"/>
                </a:solidFill>
              </a:rPr>
              <a:t>TEAM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301752" y="1472184"/>
            <a:ext cx="548640" cy="0"/>
          </a:xfrm>
          <a:prstGeom prst="line">
            <a:avLst/>
          </a:prstGeom>
          <a:noFill/>
          <a:ln w="1270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301752" y="1545336"/>
            <a:ext cx="2880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100" b="1" dirty="0">
                <a:solidFill>
                  <a:srgbClr val="FFFFFF"/>
                </a:solidFill>
              </a:rPr>
              <a:t>László </a:t>
            </a:r>
            <a:r>
              <a:rPr lang="en-US" sz="1100" b="1">
                <a:solidFill>
                  <a:srgbClr val="FFFFFF"/>
                </a:solidFill>
              </a:rPr>
              <a:t>Kiss</a:t>
            </a:r>
            <a:endParaRPr lang="en-US" sz="1100" dirty="0"/>
          </a:p>
          <a:p>
            <a:pPr marL="0" indent="0">
              <a:buNone/>
            </a:pPr>
            <a:r>
              <a:rPr lang="en-US" sz="850">
                <a:solidFill>
                  <a:srgbClr val="00C8E0"/>
                </a:solidFill>
              </a:rPr>
              <a:t>.NET</a:t>
            </a:r>
            <a:endParaRPr lang="en-US" sz="1100" dirty="0"/>
          </a:p>
          <a:p>
            <a:pPr marL="0" indent="0">
              <a:buNone/>
            </a:pPr>
            <a:r>
              <a:rPr lang="en-US" sz="500" dirty="0">
                <a:solidFill>
                  <a:srgbClr val="000000"/>
                </a:solidFill>
              </a:rPr>
              <a:t> 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64592" y="2926080"/>
            <a:ext cx="3154680" cy="1783080"/>
          </a:xfrm>
          <a:prstGeom prst="rect">
            <a:avLst/>
          </a:prstGeom>
          <a:solidFill>
            <a:srgbClr val="0C1B30"/>
          </a:solidFill>
          <a:ln w="8890">
            <a:solidFill>
              <a:srgbClr val="1322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301752" y="3054096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kern="0" spc="250" dirty="0">
                <a:solidFill>
                  <a:srgbClr val="4A6380"/>
                </a:solidFill>
              </a:rPr>
              <a:t>TECH STACK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301752" y="3255264"/>
            <a:ext cx="548640" cy="0"/>
          </a:xfrm>
          <a:prstGeom prst="line">
            <a:avLst/>
          </a:prstGeom>
          <a:noFill/>
          <a:ln w="1270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283464" y="3346704"/>
            <a:ext cx="914400" cy="246888"/>
          </a:xfrm>
          <a:prstGeom prst="rect">
            <a:avLst/>
          </a:prstGeom>
          <a:solidFill>
            <a:srgbClr val="06101F"/>
          </a:solidFill>
          <a:ln w="8890">
            <a:solidFill>
              <a:srgbClr val="1322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283464" y="3346704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A8BFDA"/>
                </a:solidFill>
              </a:rPr>
              <a:t>.NET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1298448" y="3346704"/>
            <a:ext cx="914400" cy="246888"/>
          </a:xfrm>
          <a:prstGeom prst="rect">
            <a:avLst/>
          </a:prstGeom>
          <a:solidFill>
            <a:srgbClr val="06101F"/>
          </a:solidFill>
          <a:ln w="8890">
            <a:solidFill>
              <a:srgbClr val="1322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1298448" y="3346704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>
                <a:solidFill>
                  <a:srgbClr val="A8BFDA"/>
                </a:solidFill>
              </a:rPr>
              <a:t>Angular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2313432" y="3346704"/>
            <a:ext cx="914400" cy="246888"/>
          </a:xfrm>
          <a:prstGeom prst="rect">
            <a:avLst/>
          </a:prstGeom>
          <a:solidFill>
            <a:srgbClr val="06101F"/>
          </a:solidFill>
          <a:ln w="8890">
            <a:solidFill>
              <a:srgbClr val="1322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2313432" y="3346704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A8BFDA"/>
                </a:solidFill>
              </a:rPr>
              <a:t>SpecKit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283464" y="3675888"/>
            <a:ext cx="914400" cy="246888"/>
          </a:xfrm>
          <a:prstGeom prst="rect">
            <a:avLst/>
          </a:prstGeom>
          <a:solidFill>
            <a:srgbClr val="06101F"/>
          </a:solidFill>
          <a:ln w="8890">
            <a:solidFill>
              <a:srgbClr val="132238"/>
            </a:solidFill>
            <a:prstDash val="solid"/>
          </a:ln>
        </p:spPr>
        <p:txBody>
          <a:bodyPr lIns="91440" tIns="45720" rIns="91440" bIns="45720" anchor="t"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283464" y="3675888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A8BFDA"/>
                </a:solidFill>
              </a:rPr>
              <a:t>Claude Code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1298448" y="3675888"/>
            <a:ext cx="914400" cy="246888"/>
          </a:xfrm>
          <a:prstGeom prst="rect">
            <a:avLst/>
          </a:prstGeom>
          <a:solidFill>
            <a:srgbClr val="06101F"/>
          </a:solidFill>
          <a:ln w="8890">
            <a:solidFill>
              <a:srgbClr val="1322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1298448" y="3675888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A8BFDA"/>
                </a:solidFill>
              </a:rPr>
              <a:t>Copilot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2313432" y="3675888"/>
            <a:ext cx="914400" cy="246888"/>
          </a:xfrm>
          <a:prstGeom prst="rect">
            <a:avLst/>
          </a:prstGeom>
          <a:solidFill>
            <a:srgbClr val="06101F"/>
          </a:solidFill>
          <a:ln w="8890">
            <a:solidFill>
              <a:srgbClr val="1322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2313432" y="3675888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A8BFDA"/>
                </a:solidFill>
              </a:rPr>
              <a:t>Dial API Key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283464" y="4005072"/>
            <a:ext cx="914400" cy="246888"/>
          </a:xfrm>
          <a:prstGeom prst="rect">
            <a:avLst/>
          </a:prstGeom>
          <a:solidFill>
            <a:srgbClr val="06101F"/>
          </a:solidFill>
          <a:ln w="8890">
            <a:solidFill>
              <a:srgbClr val="1322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283464" y="4005072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A8BFDA"/>
                </a:solidFill>
              </a:rPr>
              <a:t>GPT-4o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164592" y="4846320"/>
            <a:ext cx="3154680" cy="1709928"/>
          </a:xfrm>
          <a:prstGeom prst="rect">
            <a:avLst/>
          </a:prstGeom>
          <a:solidFill>
            <a:srgbClr val="0C1B30"/>
          </a:solidFill>
          <a:ln w="8890">
            <a:solidFill>
              <a:srgbClr val="1322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301752" y="4974336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kern="0" spc="250" dirty="0">
                <a:solidFill>
                  <a:srgbClr val="4A6380"/>
                </a:solidFill>
              </a:rPr>
              <a:t>BUSINESS CHALLENGES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301752" y="5175504"/>
            <a:ext cx="548640" cy="0"/>
          </a:xfrm>
          <a:prstGeom prst="line">
            <a:avLst/>
          </a:prstGeom>
          <a:noFill/>
          <a:ln w="1270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301752" y="5248656"/>
            <a:ext cx="2880360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buSzPct val="100000"/>
              <a:buFont typeface="Arial"/>
              <a:buChar char="•"/>
            </a:pPr>
            <a:r>
              <a:rPr lang="en-US" sz="800">
                <a:solidFill>
                  <a:srgbClr val="EEF1F7"/>
                </a:solidFill>
                <a:highlight>
                  <a:srgbClr val="161B2D"/>
                </a:highlight>
                <a:ea typeface="+mn-lt"/>
                <a:cs typeface="+mn-lt"/>
              </a:rPr>
              <a:t>Employees spend significant time searching for answers in technical documents.</a:t>
            </a:r>
            <a:endParaRPr lang="en-US" sz="800">
              <a:solidFill>
                <a:srgbClr val="000000"/>
              </a:solidFill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en-US" sz="800">
                <a:solidFill>
                  <a:srgbClr val="EEF1F7"/>
                </a:solidFill>
                <a:highlight>
                  <a:srgbClr val="161B2D"/>
                </a:highlight>
                <a:ea typeface="+mn-lt"/>
                <a:cs typeface="+mn-lt"/>
              </a:rPr>
              <a:t>Inconsistent or outdated responses from documentation.</a:t>
            </a:r>
            <a:endParaRPr lang="en-US" sz="800"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en-US" sz="800">
                <a:solidFill>
                  <a:srgbClr val="EEF1F7"/>
                </a:solidFill>
                <a:highlight>
                  <a:srgbClr val="161B2D"/>
                </a:highlight>
                <a:ea typeface="+mn-lt"/>
                <a:cs typeface="+mn-lt"/>
              </a:rPr>
              <a:t>Inefficient process of navigating through large knowledge bases.</a:t>
            </a:r>
            <a:endParaRPr lang="en-US" sz="800"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en-US" sz="800">
                <a:solidFill>
                  <a:srgbClr val="EEF1F7"/>
                </a:solidFill>
                <a:highlight>
                  <a:srgbClr val="161B2D"/>
                </a:highlight>
                <a:ea typeface="+mn-lt"/>
                <a:cs typeface="+mn-lt"/>
              </a:rPr>
              <a:t>Limited availability of subject-matter experts, delaying critical problem-solving.</a:t>
            </a:r>
            <a:endParaRPr lang="en-US" sz="800">
              <a:ea typeface="Calibri"/>
              <a:cs typeface="Calibri"/>
            </a:endParaRPr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endParaRPr lang="en-US" sz="800" dirty="0">
              <a:solidFill>
                <a:srgbClr val="A8BFDA"/>
              </a:solidFill>
              <a:ea typeface="Calibri"/>
              <a:cs typeface="Calibri"/>
            </a:endParaRPr>
          </a:p>
        </p:txBody>
      </p:sp>
      <p:sp>
        <p:nvSpPr>
          <p:cNvPr id="56" name="Shape 54"/>
          <p:cNvSpPr/>
          <p:nvPr/>
        </p:nvSpPr>
        <p:spPr>
          <a:xfrm>
            <a:off x="3483864" y="1143000"/>
            <a:ext cx="4892040" cy="960120"/>
          </a:xfrm>
          <a:prstGeom prst="rect">
            <a:avLst/>
          </a:prstGeom>
          <a:solidFill>
            <a:srgbClr val="0C1B30"/>
          </a:solidFill>
          <a:ln w="8890">
            <a:solidFill>
              <a:srgbClr val="1322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3621024" y="1271016"/>
            <a:ext cx="4617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kern="0" spc="250" dirty="0">
                <a:solidFill>
                  <a:srgbClr val="4A6380"/>
                </a:solidFill>
              </a:rPr>
              <a:t>INTRODUCTION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3621024" y="1472184"/>
            <a:ext cx="548640" cy="0"/>
          </a:xfrm>
          <a:prstGeom prst="line">
            <a:avLst/>
          </a:prstGeom>
          <a:noFill/>
          <a:ln w="1270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3621024" y="1545336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00">
                <a:solidFill>
                  <a:srgbClr val="EEF1F7"/>
                </a:solidFill>
                <a:highlight>
                  <a:srgbClr val="161B2D"/>
                </a:highlight>
                <a:ea typeface="+mn-lt"/>
                <a:cs typeface="+mn-lt"/>
              </a:rPr>
              <a:t>A conversational AI chatbot developed to assist users in accessing information from structured and unstructured documentation. Built using state-of-the-art AI and web technologies, this solution provides instant, intelligent interaction with technical documentation, improving productivity and knowledge sharing.</a:t>
            </a:r>
          </a:p>
        </p:txBody>
      </p:sp>
      <p:sp>
        <p:nvSpPr>
          <p:cNvPr id="60" name="Shape 58"/>
          <p:cNvSpPr/>
          <p:nvPr/>
        </p:nvSpPr>
        <p:spPr>
          <a:xfrm>
            <a:off x="3483864" y="2240280"/>
            <a:ext cx="4892040" cy="4315968"/>
          </a:xfrm>
          <a:prstGeom prst="rect">
            <a:avLst/>
          </a:prstGeom>
          <a:solidFill>
            <a:srgbClr val="0C1B30"/>
          </a:solidFill>
          <a:ln w="8890">
            <a:solidFill>
              <a:srgbClr val="1322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3621024" y="2368296"/>
            <a:ext cx="4617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kern="0" spc="250" dirty="0">
                <a:solidFill>
                  <a:srgbClr val="4A6380"/>
                </a:solidFill>
              </a:rPr>
              <a:t>SOLUTION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3621024" y="2569464"/>
            <a:ext cx="548640" cy="0"/>
          </a:xfrm>
          <a:prstGeom prst="line">
            <a:avLst/>
          </a:prstGeom>
          <a:noFill/>
          <a:ln w="1270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3648456" y="2642616"/>
            <a:ext cx="4562856" cy="2057400"/>
          </a:xfrm>
          <a:prstGeom prst="rect">
            <a:avLst/>
          </a:prstGeom>
          <a:solidFill>
            <a:srgbClr val="06101F"/>
          </a:solidFill>
          <a:ln w="8890">
            <a:solidFill>
              <a:srgbClr val="1322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3648456" y="2642616"/>
            <a:ext cx="4562856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4A6380"/>
                </a:solidFill>
              </a:rPr>
              <a:t>[ Architecture Diagram ]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3648456" y="4837176"/>
            <a:ext cx="4562856" cy="0"/>
          </a:xfrm>
          <a:prstGeom prst="line">
            <a:avLst/>
          </a:prstGeom>
          <a:noFill/>
          <a:ln w="5080">
            <a:solidFill>
              <a:srgbClr val="1322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3648456" y="4928616"/>
            <a:ext cx="4562856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00">
                <a:solidFill>
                  <a:srgbClr val="A8BFDA"/>
                </a:solidFill>
                <a:ea typeface="+mn-lt"/>
                <a:cs typeface="+mn-lt"/>
              </a:rPr>
              <a:t>The chatbot solution integrates the EPAM DIAL Core API to enable natural language question answering for technical documents. It utilizes GPT-4o and Claude Code for natural language understanding, combined with the COPILOT toolkit for rapid development.</a:t>
            </a:r>
            <a:endParaRPr lang="en-US"/>
          </a:p>
          <a:p>
            <a:endParaRPr lang="en-US"/>
          </a:p>
          <a:p>
            <a:pPr>
              <a:lnSpc>
                <a:spcPct val="145000"/>
              </a:lnSpc>
            </a:pPr>
            <a:r>
              <a:rPr lang="en-US" sz="900">
                <a:solidFill>
                  <a:srgbClr val="A8BFDA"/>
                </a:solidFill>
                <a:ea typeface="+mn-lt"/>
                <a:cs typeface="+mn-lt"/>
              </a:rPr>
              <a:t>The backend leverages .NET with ASP.NET Core for controlled tool execution, while Angular powers the user interface, offering real-time interaction and visually concise responses. The architecture includes structured data from SQL databases and indexed unstructured Markdown files for seamless retrieval.</a:t>
            </a:r>
            <a:endParaRPr lang="en-US">
              <a:ea typeface="+mn-lt"/>
              <a:cs typeface="+mn-lt"/>
            </a:endParaRPr>
          </a:p>
        </p:txBody>
      </p:sp>
      <p:sp>
        <p:nvSpPr>
          <p:cNvPr id="67" name="Shape 65"/>
          <p:cNvSpPr/>
          <p:nvPr/>
        </p:nvSpPr>
        <p:spPr>
          <a:xfrm>
            <a:off x="8540496" y="1143000"/>
            <a:ext cx="3456432" cy="5413248"/>
          </a:xfrm>
          <a:prstGeom prst="rect">
            <a:avLst/>
          </a:prstGeom>
          <a:solidFill>
            <a:srgbClr val="0C1B30"/>
          </a:solidFill>
          <a:ln w="8890">
            <a:solidFill>
              <a:srgbClr val="1322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8677656" y="1271016"/>
            <a:ext cx="3182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kern="0" spc="250" dirty="0">
                <a:solidFill>
                  <a:srgbClr val="4A6380"/>
                </a:solidFill>
              </a:rPr>
              <a:t>OTHERS</a:t>
            </a:r>
            <a:endParaRPr lang="en-US" sz="750" dirty="0"/>
          </a:p>
        </p:txBody>
      </p:sp>
      <p:sp>
        <p:nvSpPr>
          <p:cNvPr id="69" name="Shape 67"/>
          <p:cNvSpPr/>
          <p:nvPr/>
        </p:nvSpPr>
        <p:spPr>
          <a:xfrm>
            <a:off x="8677656" y="1472184"/>
            <a:ext cx="548640" cy="0"/>
          </a:xfrm>
          <a:prstGeom prst="line">
            <a:avLst/>
          </a:prstGeom>
          <a:noFill/>
          <a:ln w="1270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Shape 68"/>
          <p:cNvSpPr/>
          <p:nvPr/>
        </p:nvSpPr>
        <p:spPr>
          <a:xfrm>
            <a:off x="8677656" y="1600200"/>
            <a:ext cx="36576" cy="1143000"/>
          </a:xfrm>
          <a:prstGeom prst="rect">
            <a:avLst/>
          </a:prstGeom>
          <a:solidFill>
            <a:srgbClr val="6B28E0"/>
          </a:solidFill>
          <a:ln w="12700">
            <a:solidFill>
              <a:srgbClr val="6B2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8796528" y="1691640"/>
            <a:ext cx="3044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4A6380"/>
                </a:solidFill>
              </a:rPr>
              <a:t>IMPACT</a:t>
            </a:r>
            <a:endParaRPr lang="en-US" sz="750" dirty="0"/>
          </a:p>
        </p:txBody>
      </p:sp>
      <p:sp>
        <p:nvSpPr>
          <p:cNvPr id="72" name="Text 70"/>
          <p:cNvSpPr/>
          <p:nvPr/>
        </p:nvSpPr>
        <p:spPr>
          <a:xfrm>
            <a:off x="8796528" y="1911096"/>
            <a:ext cx="3044952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850">
                <a:solidFill>
                  <a:srgbClr val="A8BFDA"/>
                </a:solidFill>
                <a:ea typeface="+mn-lt"/>
                <a:cs typeface="+mn-lt"/>
              </a:rPr>
              <a:t>Reduced response time for documentation-related queries by 80%. Improved access to accurate, consistent information across teams.</a:t>
            </a:r>
            <a:endParaRPr lang="en-US">
              <a:ea typeface="+mn-lt"/>
              <a:cs typeface="+mn-lt"/>
            </a:endParaRPr>
          </a:p>
        </p:txBody>
      </p:sp>
      <p:sp>
        <p:nvSpPr>
          <p:cNvPr id="73" name="Shape 71"/>
          <p:cNvSpPr/>
          <p:nvPr/>
        </p:nvSpPr>
        <p:spPr>
          <a:xfrm>
            <a:off x="8677656" y="2834640"/>
            <a:ext cx="3182112" cy="0"/>
          </a:xfrm>
          <a:prstGeom prst="line">
            <a:avLst/>
          </a:prstGeom>
          <a:noFill/>
          <a:ln w="5080">
            <a:solidFill>
              <a:srgbClr val="1322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Shape 72"/>
          <p:cNvSpPr/>
          <p:nvPr/>
        </p:nvSpPr>
        <p:spPr>
          <a:xfrm>
            <a:off x="8677656" y="2926080"/>
            <a:ext cx="36576" cy="1143000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 73"/>
          <p:cNvSpPr/>
          <p:nvPr/>
        </p:nvSpPr>
        <p:spPr>
          <a:xfrm>
            <a:off x="8796528" y="3017520"/>
            <a:ext cx="3044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4A6380"/>
                </a:solidFill>
              </a:rPr>
              <a:t>LEARNINGS</a:t>
            </a:r>
            <a:endParaRPr lang="en-US" sz="750" dirty="0"/>
          </a:p>
        </p:txBody>
      </p:sp>
      <p:sp>
        <p:nvSpPr>
          <p:cNvPr id="76" name="Text 74"/>
          <p:cNvSpPr/>
          <p:nvPr/>
        </p:nvSpPr>
        <p:spPr>
          <a:xfrm>
            <a:off x="8796528" y="3236976"/>
            <a:ext cx="3044952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850">
                <a:solidFill>
                  <a:srgbClr val="A8BFDA"/>
                </a:solidFill>
                <a:ea typeface="+mn-lt"/>
                <a:cs typeface="+mn-lt"/>
              </a:rPr>
              <a:t>Leveraged DIAL API effectively for AI-driven conversation logic. Optimized tool-calling mechanisms for structured and unstructured data.</a:t>
            </a:r>
            <a:endParaRPr lang="en-US">
              <a:ea typeface="+mn-lt"/>
              <a:cs typeface="+mn-lt"/>
            </a:endParaRPr>
          </a:p>
        </p:txBody>
      </p:sp>
      <p:sp>
        <p:nvSpPr>
          <p:cNvPr id="77" name="Shape 75"/>
          <p:cNvSpPr/>
          <p:nvPr/>
        </p:nvSpPr>
        <p:spPr>
          <a:xfrm>
            <a:off x="8677656" y="4160520"/>
            <a:ext cx="3182112" cy="0"/>
          </a:xfrm>
          <a:prstGeom prst="line">
            <a:avLst/>
          </a:prstGeom>
          <a:noFill/>
          <a:ln w="5080">
            <a:solidFill>
              <a:srgbClr val="1322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Shape 76"/>
          <p:cNvSpPr/>
          <p:nvPr/>
        </p:nvSpPr>
        <p:spPr>
          <a:xfrm>
            <a:off x="8677656" y="4251960"/>
            <a:ext cx="36576" cy="1143000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Text 77"/>
          <p:cNvSpPr/>
          <p:nvPr/>
        </p:nvSpPr>
        <p:spPr>
          <a:xfrm>
            <a:off x="8796528" y="4343400"/>
            <a:ext cx="3044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4A6380"/>
                </a:solidFill>
              </a:rPr>
              <a:t>NEXT STEPS</a:t>
            </a:r>
            <a:endParaRPr lang="en-US" sz="750" dirty="0"/>
          </a:p>
        </p:txBody>
      </p:sp>
      <p:sp>
        <p:nvSpPr>
          <p:cNvPr id="80" name="Text 78"/>
          <p:cNvSpPr/>
          <p:nvPr/>
        </p:nvSpPr>
        <p:spPr>
          <a:xfrm>
            <a:off x="8796528" y="4562856"/>
            <a:ext cx="3044952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850">
                <a:solidFill>
                  <a:srgbClr val="A8BFDA"/>
                </a:solidFill>
                <a:ea typeface="+mn-lt"/>
                <a:cs typeface="+mn-lt"/>
              </a:rPr>
              <a:t>Scale the chatbot to support voice-based interactions and real-time notifications.  Integrate additional external knowledge sources for broader use cases.</a:t>
            </a:r>
            <a:endParaRPr lang="en-US">
              <a:solidFill>
                <a:srgbClr val="000000"/>
              </a:solidFill>
              <a:ea typeface="+mn-lt"/>
              <a:cs typeface="+mn-lt"/>
            </a:endParaRPr>
          </a:p>
        </p:txBody>
      </p:sp>
      <p:sp>
        <p:nvSpPr>
          <p:cNvPr id="81" name="Shape 79"/>
          <p:cNvSpPr/>
          <p:nvPr/>
        </p:nvSpPr>
        <p:spPr>
          <a:xfrm>
            <a:off x="8677656" y="5623560"/>
            <a:ext cx="3182112" cy="0"/>
          </a:xfrm>
          <a:prstGeom prst="line">
            <a:avLst/>
          </a:prstGeom>
          <a:noFill/>
          <a:ln w="5080">
            <a:solidFill>
              <a:srgbClr val="1322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Text 80"/>
          <p:cNvSpPr/>
          <p:nvPr/>
        </p:nvSpPr>
        <p:spPr>
          <a:xfrm>
            <a:off x="8796528" y="5742432"/>
            <a:ext cx="3044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4A6380"/>
                </a:solidFill>
              </a:rPr>
              <a:t>ADDITIONAL NOTES</a:t>
            </a:r>
            <a:endParaRPr lang="en-US" sz="750" dirty="0"/>
          </a:p>
        </p:txBody>
      </p:sp>
      <p:sp>
        <p:nvSpPr>
          <p:cNvPr id="83" name="Text 81"/>
          <p:cNvSpPr/>
          <p:nvPr/>
        </p:nvSpPr>
        <p:spPr>
          <a:xfrm>
            <a:off x="8796528" y="5980176"/>
            <a:ext cx="3044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850">
                <a:solidFill>
                  <a:srgbClr val="4A6380"/>
                </a:solidFill>
                <a:ea typeface="+mn-lt"/>
                <a:cs typeface="+mn-lt"/>
              </a:rPr>
              <a:t>https://github.com/laszlokissepam/Laszlo_Kiss-AI_Upskill-May_2026</a:t>
            </a:r>
            <a:endParaRPr lang="en-US">
              <a:ea typeface="+mn-lt"/>
              <a:cs typeface="+mn-lt"/>
            </a:endParaRPr>
          </a:p>
        </p:txBody>
      </p:sp>
      <p:sp>
        <p:nvSpPr>
          <p:cNvPr id="84" name="Shape 82"/>
          <p:cNvSpPr/>
          <p:nvPr/>
        </p:nvSpPr>
        <p:spPr>
          <a:xfrm>
            <a:off x="0" y="6601968"/>
            <a:ext cx="12161520" cy="256032"/>
          </a:xfrm>
          <a:prstGeom prst="rect">
            <a:avLst/>
          </a:prstGeom>
          <a:solidFill>
            <a:srgbClr val="0A1525"/>
          </a:solidFill>
          <a:ln w="5080">
            <a:solidFill>
              <a:srgbClr val="1322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Text 83"/>
          <p:cNvSpPr/>
          <p:nvPr/>
        </p:nvSpPr>
        <p:spPr>
          <a:xfrm>
            <a:off x="201168" y="6611112"/>
            <a:ext cx="5486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150" dirty="0">
                <a:solidFill>
                  <a:srgbClr val="4A6380"/>
                </a:solidFill>
              </a:rPr>
              <a:t>.NET AI UPSKILL INITIATIVE — MAY 2026</a:t>
            </a:r>
            <a:endParaRPr lang="en-US" sz="700" dirty="0"/>
          </a:p>
        </p:txBody>
      </p:sp>
      <p:sp>
        <p:nvSpPr>
          <p:cNvPr id="86" name="Text 84"/>
          <p:cNvSpPr/>
          <p:nvPr/>
        </p:nvSpPr>
        <p:spPr>
          <a:xfrm>
            <a:off x="9966960" y="6611112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kern="0" spc="150" dirty="0">
                <a:solidFill>
                  <a:srgbClr val="4A6380"/>
                </a:solidFill>
              </a:rPr>
              <a:t>CONFIDENTIAL</a:t>
            </a:r>
            <a:endParaRPr lang="en-US" sz="700" dirty="0"/>
          </a:p>
        </p:txBody>
      </p:sp>
      <p:pic>
        <p:nvPicPr>
          <p:cNvPr id="88" name="Picture 87">
            <a:extLst>
              <a:ext uri="{FF2B5EF4-FFF2-40B4-BE49-F238E27FC236}">
                <a16:creationId xmlns:a16="http://schemas.microsoft.com/office/drawing/2014/main" id="{B52F01CD-9291-33F3-4D2E-38D55BB996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1920" y="2652940"/>
            <a:ext cx="4269016" cy="213269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193</Words>
  <Application>Microsoft Office PowerPoint</Application>
  <PresentationFormat>Widescreen</PresentationFormat>
  <Paragraphs>39</Paragraphs>
  <Slides>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Zbigniew Koltuniak</cp:lastModifiedBy>
  <cp:revision>45</cp:revision>
  <dcterms:created xsi:type="dcterms:W3CDTF">2026-04-23T17:39:49Z</dcterms:created>
  <dcterms:modified xsi:type="dcterms:W3CDTF">2026-07-16T07:30:19Z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a535040-0af2-483f-adc3-a132c21e3e2b_Enabled">
    <vt:lpwstr>true</vt:lpwstr>
  </property>
  <property fmtid="{D5CDD505-2E9C-101B-9397-08002B2CF9AE}" pid="3" name="MSIP_Label_2a535040-0af2-483f-adc3-a132c21e3e2b_SetDate">
    <vt:lpwstr>2026-04-23T18:24:49Z</vt:lpwstr>
  </property>
  <property fmtid="{D5CDD505-2E9C-101B-9397-08002B2CF9AE}" pid="4" name="MSIP_Label_2a535040-0af2-483f-adc3-a132c21e3e2b_Method">
    <vt:lpwstr>Standard</vt:lpwstr>
  </property>
  <property fmtid="{D5CDD505-2E9C-101B-9397-08002B2CF9AE}" pid="5" name="MSIP_Label_2a535040-0af2-483f-adc3-a132c21e3e2b_Name">
    <vt:lpwstr>EPAM_Confidential</vt:lpwstr>
  </property>
  <property fmtid="{D5CDD505-2E9C-101B-9397-08002B2CF9AE}" pid="6" name="MSIP_Label_2a535040-0af2-483f-adc3-a132c21e3e2b_SiteId">
    <vt:lpwstr>b41b72d0-4e9f-4c26-8a69-f949f367c91d</vt:lpwstr>
  </property>
  <property fmtid="{D5CDD505-2E9C-101B-9397-08002B2CF9AE}" pid="7" name="MSIP_Label_2a535040-0af2-483f-adc3-a132c21e3e2b_ActionId">
    <vt:lpwstr>8989d48e-950a-4fe5-ab54-11814b72000a</vt:lpwstr>
  </property>
  <property fmtid="{D5CDD505-2E9C-101B-9397-08002B2CF9AE}" pid="8" name="MSIP_Label_2a535040-0af2-483f-adc3-a132c21e3e2b_ContentBits">
    <vt:lpwstr>0</vt:lpwstr>
  </property>
  <property fmtid="{D5CDD505-2E9C-101B-9397-08002B2CF9AE}" pid="9" name="MSIP_Label_2a535040-0af2-483f-adc3-a132c21e3e2b_Tag">
    <vt:lpwstr>10, 3, 0, 1</vt:lpwstr>
  </property>
</Properties>
</file>